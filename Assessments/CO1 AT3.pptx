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5"/>
  </p:notesMasterIdLst>
  <p:sldIdLst>
    <p:sldId id="269" r:id="rId2"/>
    <p:sldId id="270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296" y="-1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BCF1F-5822-4F9F-AB5E-F449AA13543D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1CDED-F6D9-4236-BE77-7EFB3DB65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12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1742182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629330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3019230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759761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334101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1792701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204105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802582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162799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22118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230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555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7/27/2026</a:t>
            </a:fld>
            <a:endParaRPr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0"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1">
                  <a:shade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856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08" y="25406"/>
            <a:ext cx="10402277" cy="681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03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934" y="0"/>
            <a:ext cx="7399866" cy="6700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32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DESIGN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Processors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 </a:t>
            </a: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</a:t>
            </a:r>
            <a:r>
              <a:rPr lang="en-US" sz="3200" b="1" i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source code becomes a running program — two contrasting strategies for language translation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4892040"/>
            <a:ext cx="10058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13" name="Google Shape;90;p13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xmlns="" id="{AD3C445B-14E7-A60A-017C-B7023A4036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938" y="244231"/>
            <a:ext cx="11308655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Language Processor?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D9E4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2588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software tool that converts a program written in a source language (e.g. C, Java, Python) into a form the machine — or another program — can execute. Without a language processor, a computer, which only understands binary machine code, could never run human-readable code.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broad categories: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ptx_project/icons/cog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46831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3101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364845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the entire source program into machine/target code before execution begins.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project/icons/pla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44284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42702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43000" y="460857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and executes the source program line-by-line, without producing a separate file.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5257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pptx_project/icons/chi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" y="538855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5230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43000" y="556869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assembly language (mnemonics) directly into machine code.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543800" y="1371600"/>
            <a:ext cx="4160520" cy="4754880"/>
          </a:xfrm>
          <a:prstGeom prst="roundRect">
            <a:avLst>
              <a:gd name="adj" fmla="val 2637"/>
            </a:avLst>
          </a:prstGeom>
          <a:solidFill>
            <a:srgbClr val="F4F8FA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81812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818120" y="210312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00100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001000" y="2514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(.c, .java, .py)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946404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7818120" y="324612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001000" y="3337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001000" y="3657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/ Interpreter / Assembler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9464040" y="4069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7818120" y="438912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001000" y="4480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Form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001000" y="4800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code or direct execution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 — Compiler Design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4" name="Google Shape;90;p13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xmlns="" id="{5C96FB0E-C682-B8CF-58BD-720320EF899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5483" y="130622"/>
            <a:ext cx="5803638" cy="884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Compiler?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D9E4E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ptx_project/icons/cog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1538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53312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is a program that reads an entire source program written in a high-level language and translates it, </a:t>
            </a: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 once</a:t>
            </a: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into an equivalent program in a target language — usually machine code or assembly. The output is a separate executable file that can be run independently, any number of times, without the compiler present.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8803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880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Program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28803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2880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0" y="28803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0" y="2880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Program (Object Code)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37560" y="28803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269480" y="28803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7200" y="3703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LATER, directly on hardware — no compiler needed at run time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characteristics: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" y="470916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whole program for errors before generating any output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is fast, since translation happens only once, in advance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an independent executable (e.g. .exe)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GCC (C/C++), javac (Java to bytecode)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 — Compiler Design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2" name="Google Shape;90;p13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xmlns="" id="{EBAA3305-EC56-EE18-D2D5-A66B8D46CA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8024" y="244231"/>
            <a:ext cx="7184569" cy="743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Interpreter?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D9E4E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x_project/icons/pl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1538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53312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interpreter is a program that translates and executes source code </a:t>
            </a: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(or statement) at a time</a:t>
            </a: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without producing a separate target file. It reads a line, translates it, executes it immediately, then moves to the next line — repeating until the program ends or an error occurs.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8803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880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Statement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28803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2880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0" y="28803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0" y="2880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Immediately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37560" y="28803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269480" y="28803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7200" y="3703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repeats for every statement, until the program finishes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characteristics: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" y="470916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object file — the interpreter must be present every time the program runs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immediately when it hits an error, without checking the rest of the code first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overall execution, since translation is repeated every run (and every loop pass)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Python (CPython), the classic BASIC interpreter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 — Compiler Design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2" name="Google Shape;90;p13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xmlns="" id="{54170B8A-16BC-8209-1A13-4918F3FCF2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2506" y="244231"/>
            <a:ext cx="6550087" cy="715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 vs Interpreter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11247120" cy="18288"/>
          </a:xfrm>
          <a:prstGeom prst="rect">
            <a:avLst/>
          </a:prstGeom>
          <a:solidFill>
            <a:srgbClr val="D9E4E8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51206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unit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program, at once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statement at a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target/object 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separate file produced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speed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(translated only once)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(re-translated each run)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detection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errors reported after full compilation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at the first error encountered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memory for full target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less memory; no target code stored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 — errors mapped back to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Easier — pinpoints the failing line directly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C++ (GCC)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JavaScript (traditional engines)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 — Compiler Design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0" name="Google Shape;90;p13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xmlns="" id="{DDF5E135-8C17-ACBA-51EE-F53CC066FB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55770" y="92932"/>
            <a:ext cx="5561045" cy="818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of Compilation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doesn't translate in one leap — it works through six well-defined phases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4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80136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characters into tokens (keywords, identifiers, operators)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4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180136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80560" y="2468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token order against grammar; builds a parse tree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4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15400" y="180136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75320" y="2468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meaning — type checking, scope, consistency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4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04164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Code Gen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5800" y="4709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machine-independent intermediate form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51960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4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20640" y="404164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Optimization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480560" y="4709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the intermediate code for speed/space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4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915400" y="404164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75320" y="4709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final target machine code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 — Compiler Design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Compiler: Strengths &amp; Trade-offs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D9E4E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40680" cy="4937760"/>
          </a:xfrm>
          <a:prstGeom prst="roundRect">
            <a:avLst>
              <a:gd name="adj" fmla="val 2222"/>
            </a:avLst>
          </a:prstGeom>
          <a:solidFill>
            <a:srgbClr val="F4F8FA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project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execution — translation happens only once, upfront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program is checked, so many errors surface before it ever runs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standalone executable — the compiler isn't needed to run it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opportunity for code optimization across the entire program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can be kept private (only the compiled binary is shared)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440680" cy="4937760"/>
          </a:xfrm>
          <a:prstGeom prst="roundRect">
            <a:avLst>
              <a:gd name="adj" fmla="val 2222"/>
            </a:avLst>
          </a:prstGeom>
          <a:solidFill>
            <a:srgbClr val="F4F8FA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64592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/home/claude/pptx_project/icons/time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17885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33172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itself takes time, especially for large programs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recompile the entire program after every code change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 can be harder to trace back to the exact source line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executable is often platform/hardware specific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ideal for quick experimentation or interactive testing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 — Compiler Design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7" name="Google Shape;90;p13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xmlns="" id="{F53A95BE-9E2A-B643-763D-E7AF6E7CFB1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03432" y="92932"/>
            <a:ext cx="5561045" cy="818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Interpreter: Strengths &amp; Trade-offs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D9E4E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40680" cy="4937760"/>
          </a:xfrm>
          <a:prstGeom prst="roundRect">
            <a:avLst>
              <a:gd name="adj" fmla="val 2222"/>
            </a:avLst>
          </a:prstGeom>
          <a:solidFill>
            <a:srgbClr val="F4F8FA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x_project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execution — great for testing, learning, and quick scripts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reported precisely, at the exact line where they occur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compilation step — edit and run right away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portable: the same source runs anywhere the interpreter exists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interactive debugging (e.g. Python's REPL / shell)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440680" cy="4937760"/>
          </a:xfrm>
          <a:prstGeom prst="roundRect">
            <a:avLst>
              <a:gd name="adj" fmla="val 2222"/>
            </a:avLst>
          </a:prstGeom>
          <a:solidFill>
            <a:srgbClr val="F4F8FA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64592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/home/claude/pptx_project/icons/time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17885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33172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execution — each line is re-translated every time it runs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interpreter must always be present on the running machine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re-translate the same statements repeatedly, wasting effort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sees errors as it reaches each line — not the whole program upfront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is exposed, since no separate compiled binary is created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 — Compiler Design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7" name="Google Shape;90;p13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xmlns="" id="{037137E0-47CD-9A09-31E6-A500F54FECD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26326" y="92932"/>
            <a:ext cx="5338151" cy="867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Hybrid Approach: Best of Both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D9E4E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ptx_project/icons/puzz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14923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98448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languages rarely use a pure compiler or pure interpreter. Instead, most combine both ideas: a compiler first translates source code into an </a:t>
            </a: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form</a:t>
            </a: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is then interpreted — or further compiled </a:t>
            </a: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(JIT)</a:t>
            </a: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while the program runs.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6517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26517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606040" y="2651760"/>
            <a:ext cx="301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07792" y="26517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07792" y="26517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28032" y="2651760"/>
            <a:ext cx="301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29784" y="265176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9784" y="2651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 / Intermediate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24344" y="2651760"/>
            <a:ext cx="301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6096" y="265176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26096" y="2651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+ JIT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820656" y="2651760"/>
            <a:ext cx="301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122408" y="26517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122408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examples: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57200" y="448056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4F8FA"/>
          </a:solidFill>
          <a:ln w="9525">
            <a:solidFill>
              <a:srgbClr val="D9E4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44805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834640" y="44805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 compiles to bytecode; the JVM interprets it and JIT-compiles hot code paths to native machine code.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" y="5285232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4F8FA"/>
          </a:solidFill>
          <a:ln w="9525">
            <a:solidFill>
              <a:srgbClr val="D9E4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5285232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(CPython)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834640" y="528523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is compiled to bytecode (.pyc) first, then that bytecode is interpreted by the Python VM.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57200" y="6089904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4F8FA"/>
          </a:solidFill>
          <a:ln w="9525">
            <a:solidFill>
              <a:srgbClr val="D9E4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6089904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(V8)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834640" y="6089904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to bytecode immediately, then uses JIT compilation to speed up frequently-run functions.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 — Compiler Design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35" name="Google Shape;90;p13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xmlns="" id="{344D9E84-7976-9EAC-6AF1-FC3228617A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18041" y="92932"/>
            <a:ext cx="5346436" cy="88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pptx_project/icons/fla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8183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10515600" cy="137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187452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1B24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0" y="2148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pptx_project/icons/cog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039" y="227959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148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097280" y="27889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the whole program in advance → fast, standalone execution, but a slower edit-run cycle.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0" y="187452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1B24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75120" y="2148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pptx_project/icons/play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5879" y="227959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148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675120" y="27889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and runs line-by-line → immediate feedback and easy debugging, but slower overall runtime.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25196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1B24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97280" y="4526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pptx_project/icons/puzz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039" y="465703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37360" y="4526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systems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097280" y="51663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Python, and JavaScript combine both, using bytecode and JIT compilation for a practical middle ground.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0" y="425196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1B24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675120" y="4526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4" descr="/home/claude/pptx_project/icons/balanc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5879" y="4657039"/>
            <a:ext cx="241402" cy="2414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526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them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6675120" y="51663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choice depends on the trade-off you need: raw speed vs. development flexibility.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 — Compiler Design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29" name="Google Shape;90;p13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xmlns="" id="{A8074081-11D5-8F83-BC7C-FBA6A7BF9D1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66522" y="320040"/>
            <a:ext cx="6997955" cy="927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GEOTAG PHOTOS -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194"/>
            <a:ext cx="5181600" cy="38862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</p:spPr>
      </p:pic>
    </p:spTree>
    <p:extLst>
      <p:ext uri="{BB962C8B-B14F-4D97-AF65-F5344CB8AC3E}">
        <p14:creationId xmlns:p14="http://schemas.microsoft.com/office/powerpoint/2010/main" val="2567488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110</TotalTime>
  <Words>1131</Words>
  <Application>Microsoft Office PowerPoint</Application>
  <PresentationFormat>Custom</PresentationFormat>
  <Paragraphs>175</Paragraphs>
  <Slides>13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GEOTAG PHOTOS -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TEJU</cp:lastModifiedBy>
  <cp:revision>8</cp:revision>
  <dcterms:created xsi:type="dcterms:W3CDTF">2026-07-23T07:38:56Z</dcterms:created>
  <dcterms:modified xsi:type="dcterms:W3CDTF">2026-07-27T03:11:22Z</dcterms:modified>
</cp:coreProperties>
</file>